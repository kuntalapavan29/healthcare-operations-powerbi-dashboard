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7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48" autoAdjust="0"/>
    <p:restoredTop sz="94660"/>
  </p:normalViewPr>
  <p:slideViewPr>
    <p:cSldViewPr snapToGrid="0">
      <p:cViewPr varScale="1">
        <p:scale>
          <a:sx n="70" d="100"/>
          <a:sy n="70" d="100"/>
        </p:scale>
        <p:origin x="2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AN KUNTALA" userId="ed149b9b012ec2e4" providerId="LiveId" clId="{7F28D6DF-0335-401A-B5C4-E52ACBE26D4C}"/>
    <pc:docChg chg="modSld sldOrd">
      <pc:chgData name="PAVAN KUNTALA" userId="ed149b9b012ec2e4" providerId="LiveId" clId="{7F28D6DF-0335-401A-B5C4-E52ACBE26D4C}" dt="2026-06-29T06:56:26.157" v="6" actId="255"/>
      <pc:docMkLst>
        <pc:docMk/>
      </pc:docMkLst>
      <pc:sldChg chg="ord">
        <pc:chgData name="PAVAN KUNTALA" userId="ed149b9b012ec2e4" providerId="LiveId" clId="{7F28D6DF-0335-401A-B5C4-E52ACBE26D4C}" dt="2026-06-29T06:54:48.988" v="1"/>
        <pc:sldMkLst>
          <pc:docMk/>
          <pc:sldMk cId="1548753683" sldId="262"/>
        </pc:sldMkLst>
      </pc:sldChg>
      <pc:sldChg chg="modSp mod">
        <pc:chgData name="PAVAN KUNTALA" userId="ed149b9b012ec2e4" providerId="LiveId" clId="{7F28D6DF-0335-401A-B5C4-E52ACBE26D4C}" dt="2026-06-29T06:56:17.182" v="5" actId="255"/>
        <pc:sldMkLst>
          <pc:docMk/>
          <pc:sldMk cId="1730871298" sldId="264"/>
        </pc:sldMkLst>
        <pc:spChg chg="mod">
          <ac:chgData name="PAVAN KUNTALA" userId="ed149b9b012ec2e4" providerId="LiveId" clId="{7F28D6DF-0335-401A-B5C4-E52ACBE26D4C}" dt="2026-06-29T06:56:17.182" v="5" actId="255"/>
          <ac:spMkLst>
            <pc:docMk/>
            <pc:sldMk cId="1730871298" sldId="264"/>
            <ac:spMk id="3" creationId="{F7F194A8-5DB1-0E50-791A-3E5BC752E217}"/>
          </ac:spMkLst>
        </pc:spChg>
      </pc:sldChg>
      <pc:sldChg chg="modSp mod">
        <pc:chgData name="PAVAN KUNTALA" userId="ed149b9b012ec2e4" providerId="LiveId" clId="{7F28D6DF-0335-401A-B5C4-E52ACBE26D4C}" dt="2026-06-29T06:56:26.157" v="6" actId="255"/>
        <pc:sldMkLst>
          <pc:docMk/>
          <pc:sldMk cId="1403565104" sldId="265"/>
        </pc:sldMkLst>
        <pc:spChg chg="mod">
          <ac:chgData name="PAVAN KUNTALA" userId="ed149b9b012ec2e4" providerId="LiveId" clId="{7F28D6DF-0335-401A-B5C4-E52ACBE26D4C}" dt="2026-06-29T06:56:26.157" v="6" actId="255"/>
          <ac:spMkLst>
            <pc:docMk/>
            <pc:sldMk cId="1403565104" sldId="265"/>
            <ac:spMk id="3" creationId="{80D8C051-664B-7753-5133-5F5DEAEBC378}"/>
          </ac:spMkLst>
        </pc:spChg>
      </pc:sldChg>
      <pc:sldChg chg="modSp mod">
        <pc:chgData name="PAVAN KUNTALA" userId="ed149b9b012ec2e4" providerId="LiveId" clId="{7F28D6DF-0335-401A-B5C4-E52ACBE26D4C}" dt="2026-06-29T06:56:06.767" v="4" actId="255"/>
        <pc:sldMkLst>
          <pc:docMk/>
          <pc:sldMk cId="2307780659" sldId="266"/>
        </pc:sldMkLst>
        <pc:spChg chg="mod">
          <ac:chgData name="PAVAN KUNTALA" userId="ed149b9b012ec2e4" providerId="LiveId" clId="{7F28D6DF-0335-401A-B5C4-E52ACBE26D4C}" dt="2026-06-29T06:56:06.767" v="4" actId="255"/>
          <ac:spMkLst>
            <pc:docMk/>
            <pc:sldMk cId="2307780659" sldId="266"/>
            <ac:spMk id="3" creationId="{A69B613E-FA13-145B-D5EA-79E638D8B27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8ECF1-59AD-4650-8C2C-ED77556E9250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1421CD-E329-476F-95DA-937163DEB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325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1421CD-E329-476F-95DA-937163DEB34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295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8440-D6FF-4108-82F6-F1802398548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79B6-558D-49B6-9FBC-175648ED2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746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8440-D6FF-4108-82F6-F1802398548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79B6-558D-49B6-9FBC-175648ED2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996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8440-D6FF-4108-82F6-F1802398548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79B6-558D-49B6-9FBC-175648ED2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865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8440-D6FF-4108-82F6-F1802398548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79B6-558D-49B6-9FBC-175648ED2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616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8440-D6FF-4108-82F6-F1802398548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79B6-558D-49B6-9FBC-175648ED2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62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8440-D6FF-4108-82F6-F1802398548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79B6-558D-49B6-9FBC-175648ED2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814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8440-D6FF-4108-82F6-F1802398548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79B6-558D-49B6-9FBC-175648ED2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053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8440-D6FF-4108-82F6-F1802398548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79B6-558D-49B6-9FBC-175648ED2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526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8440-D6FF-4108-82F6-F1802398548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79B6-558D-49B6-9FBC-175648ED2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378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8440-D6FF-4108-82F6-F1802398548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79B6-558D-49B6-9FBC-175648ED2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486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8440-D6FF-4108-82F6-F1802398548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79B6-558D-49B6-9FBC-175648ED2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6474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8440-D6FF-4108-82F6-F1802398548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79B6-558D-49B6-9FBC-175648ED26BC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02180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8440-D6FF-4108-82F6-F1802398548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79B6-558D-49B6-9FBC-175648ED2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0539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8440-D6FF-4108-82F6-F1802398548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79B6-558D-49B6-9FBC-175648ED2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7055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8440-D6FF-4108-82F6-F1802398548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79B6-558D-49B6-9FBC-175648ED2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098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8440-D6FF-4108-82F6-F1802398548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79B6-558D-49B6-9FBC-175648ED2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2023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8440-D6FF-4108-82F6-F1802398548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79B6-558D-49B6-9FBC-175648ED2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372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D498440-D6FF-4108-82F6-F1802398548A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49179B6-558D-49B6-9FBC-175648ED2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0766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98" r:id="rId1"/>
    <p:sldLayoutId id="2147483999" r:id="rId2"/>
    <p:sldLayoutId id="2147484000" r:id="rId3"/>
    <p:sldLayoutId id="2147484001" r:id="rId4"/>
    <p:sldLayoutId id="2147484002" r:id="rId5"/>
    <p:sldLayoutId id="2147484003" r:id="rId6"/>
    <p:sldLayoutId id="2147484004" r:id="rId7"/>
    <p:sldLayoutId id="2147484005" r:id="rId8"/>
    <p:sldLayoutId id="2147484006" r:id="rId9"/>
    <p:sldLayoutId id="2147484007" r:id="rId10"/>
    <p:sldLayoutId id="2147484008" r:id="rId11"/>
    <p:sldLayoutId id="2147484009" r:id="rId12"/>
    <p:sldLayoutId id="2147484010" r:id="rId13"/>
    <p:sldLayoutId id="2147484011" r:id="rId14"/>
    <p:sldLayoutId id="2147484012" r:id="rId15"/>
    <p:sldLayoutId id="2147484013" r:id="rId16"/>
    <p:sldLayoutId id="214748401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C1D60-C473-EEEF-FD1B-39F4D09EAF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Healthcare Operations Dashboard using Power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75742-8A98-20C1-980E-74E4D07CFD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/>
              <a:t>Presented By:</a:t>
            </a:r>
            <a:r>
              <a:rPr lang="en-IN" dirty="0"/>
              <a:t> Pavan </a:t>
            </a:r>
            <a:r>
              <a:rPr lang="en-IN" dirty="0" err="1"/>
              <a:t>Kuntala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9360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F2946-748D-0E6A-3495-61E97B6DF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83348-5DC7-ACCD-0FFF-E30B2812D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IN" dirty="0"/>
              <a:t>The objective of this project is to </a:t>
            </a:r>
            <a:r>
              <a:rPr lang="en-IN" dirty="0" err="1"/>
              <a:t>analyze</a:t>
            </a:r>
            <a:r>
              <a:rPr lang="en-IN" dirty="0"/>
              <a:t> hospital operational data using Power BI and provide interactive dashboards that help hospital management monitor admissions, revenue, patient demographics, bed occupancy, and discharge status for better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4019575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B1578-DD23-AC8C-1D69-592FDCA2A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29184"/>
            <a:ext cx="10353762" cy="1040554"/>
          </a:xfrm>
        </p:spPr>
        <p:txBody>
          <a:bodyPr/>
          <a:lstStyle/>
          <a:p>
            <a:r>
              <a:rPr lang="en-IN" b="1" dirty="0"/>
              <a:t>Tools &amp;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51B51-D0A0-012C-79F6-40481232D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6900" indent="0">
              <a:buNone/>
            </a:pPr>
            <a:r>
              <a:rPr lang="en-IN" sz="2600" b="1" dirty="0"/>
              <a:t>Tools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/>
              <a:t>Power BI Desktop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/>
              <a:t>Microsoft Excel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/>
              <a:t>DAX (Data Analysis Expressions)</a:t>
            </a:r>
            <a:endParaRPr lang="en-IN" sz="1900" b="1" dirty="0"/>
          </a:p>
          <a:p>
            <a:pPr marL="36900" indent="0">
              <a:buNone/>
            </a:pPr>
            <a:r>
              <a:rPr lang="en-IN" sz="2600" b="1" dirty="0"/>
              <a:t>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100" dirty="0"/>
              <a:t>Fact Admissions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100" dirty="0"/>
              <a:t>Fact </a:t>
            </a:r>
            <a:r>
              <a:rPr lang="en-IN" sz="2100" dirty="0" err="1"/>
              <a:t>BedOccupancy</a:t>
            </a:r>
            <a:endParaRPr lang="en-IN" sz="21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100" dirty="0"/>
              <a:t>Dim Department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100" dirty="0"/>
              <a:t>Dim Doctor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100" dirty="0"/>
              <a:t>Dim Date</a:t>
            </a:r>
          </a:p>
        </p:txBody>
      </p:sp>
    </p:spTree>
    <p:extLst>
      <p:ext uri="{BB962C8B-B14F-4D97-AF65-F5344CB8AC3E}">
        <p14:creationId xmlns:p14="http://schemas.microsoft.com/office/powerpoint/2010/main" val="2060508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2113E-F866-B830-DAD0-754ADFD12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05FE8-3B02-3F82-7051-FE980555C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>
              <a:buNone/>
            </a:pPr>
            <a:r>
              <a:rPr lang="en-IN" sz="2400" b="1" dirty="0"/>
              <a:t>Relationships Created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 err="1"/>
              <a:t>Fact_Admissions</a:t>
            </a:r>
            <a:r>
              <a:rPr lang="en-IN" sz="1800" dirty="0"/>
              <a:t> → </a:t>
            </a:r>
            <a:r>
              <a:rPr lang="en-IN" sz="1800" dirty="0" err="1"/>
              <a:t>Dim_Department</a:t>
            </a:r>
            <a:endParaRPr lang="en-IN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 err="1"/>
              <a:t>Fact_Admissions</a:t>
            </a:r>
            <a:r>
              <a:rPr lang="en-IN" sz="1800" dirty="0"/>
              <a:t> → </a:t>
            </a:r>
            <a:r>
              <a:rPr lang="en-IN" sz="1800" dirty="0" err="1"/>
              <a:t>Dim_Doctor</a:t>
            </a:r>
            <a:endParaRPr lang="en-IN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 err="1"/>
              <a:t>Fact_Admissions</a:t>
            </a:r>
            <a:r>
              <a:rPr lang="en-IN" sz="1800" dirty="0"/>
              <a:t> → </a:t>
            </a:r>
            <a:r>
              <a:rPr lang="en-IN" sz="1800" dirty="0" err="1"/>
              <a:t>Dim_Date</a:t>
            </a:r>
            <a:endParaRPr lang="en-IN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 err="1"/>
              <a:t>Fact_BedOccupancy</a:t>
            </a:r>
            <a:r>
              <a:rPr lang="en-IN" sz="1800" dirty="0"/>
              <a:t> → </a:t>
            </a:r>
            <a:r>
              <a:rPr lang="en-IN" sz="1800" dirty="0" err="1"/>
              <a:t>Dim_Department</a:t>
            </a:r>
            <a:endParaRPr lang="en-IN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 err="1"/>
              <a:t>Fact_BedOccupancy</a:t>
            </a:r>
            <a:r>
              <a:rPr lang="en-IN" sz="1800" dirty="0"/>
              <a:t> → </a:t>
            </a:r>
            <a:r>
              <a:rPr lang="en-IN" sz="1800" dirty="0" err="1"/>
              <a:t>Dim_Date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1499661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0C81D-52BB-AF0C-CAA2-2FC410393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DAX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48B44-C5E6-80A2-0E57-FC5F78F3C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>
              <a:buNone/>
            </a:pPr>
            <a:r>
              <a:rPr lang="en-IN" sz="2400" b="1" dirty="0"/>
              <a:t>Measures Created: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Total Admissions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Total Revenue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Total Patients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Average Length of Stay(LOS)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Bed Occupancy 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These measures were used to calculate hospital KPIs.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2218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2861B-771B-3FBE-CCCD-F3B393DA3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A2617-4299-88F2-ECFA-39CC9D2F3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36900" indent="0">
              <a:buNone/>
            </a:pPr>
            <a:r>
              <a:rPr lang="en-IN" sz="9600" b="1" dirty="0"/>
              <a:t>KPI Cards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7200" dirty="0"/>
              <a:t>Total Admissions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7200" dirty="0"/>
              <a:t>Average Length of Stay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7200" dirty="0"/>
              <a:t>Total Revenue</a:t>
            </a:r>
          </a:p>
          <a:p>
            <a:pPr marL="36900" indent="0">
              <a:buNone/>
            </a:pPr>
            <a:r>
              <a:rPr lang="en-IN" sz="9600" b="1" dirty="0"/>
              <a:t>Operational Charts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5500" dirty="0"/>
              <a:t>Monthly Admission Trend</a:t>
            </a:r>
            <a:endParaRPr lang="en-IN" sz="55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5500" dirty="0"/>
              <a:t>Patients by Age Group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5500" dirty="0"/>
              <a:t>Gender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5500" dirty="0"/>
              <a:t>Admission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5500" dirty="0"/>
              <a:t>Patients by Insurance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5500" dirty="0"/>
              <a:t>Patients by Department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5500" dirty="0"/>
              <a:t>Total Patients by Department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5500" dirty="0"/>
              <a:t>Bed Occupancy by Department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5500" dirty="0"/>
              <a:t>Discharge Status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8267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94D4F-10EF-5826-D509-9767E78A4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Dashboard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8D50C-5BD3-D4B7-7D86-B4C0D88FF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>
              <a:buNone/>
            </a:pPr>
            <a:r>
              <a:rPr lang="en-IN" sz="2400" b="1" dirty="0"/>
              <a:t>Total Admissions</a:t>
            </a:r>
          </a:p>
          <a:p>
            <a:pPr marL="36900" indent="0">
              <a:buNone/>
            </a:pPr>
            <a:r>
              <a:rPr lang="en-IN" sz="1800" dirty="0"/>
              <a:t>Shows the total number of admitted patients.</a:t>
            </a:r>
          </a:p>
          <a:p>
            <a:pPr marL="36900" indent="0">
              <a:buNone/>
            </a:pPr>
            <a:r>
              <a:rPr lang="en-IN" sz="2400" b="1" dirty="0"/>
              <a:t>Average Length of Stay</a:t>
            </a:r>
          </a:p>
          <a:p>
            <a:pPr marL="36900" indent="0">
              <a:buNone/>
            </a:pPr>
            <a:r>
              <a:rPr lang="en-IN" sz="1800" dirty="0"/>
              <a:t>Measures the average number of days patients stay in the hospital.</a:t>
            </a:r>
          </a:p>
          <a:p>
            <a:pPr marL="36900" indent="0">
              <a:buNone/>
            </a:pPr>
            <a:r>
              <a:rPr lang="en-IN" sz="2400" b="1" dirty="0"/>
              <a:t>Total Revenue</a:t>
            </a:r>
          </a:p>
          <a:p>
            <a:pPr marL="36900" indent="0">
              <a:buNone/>
            </a:pPr>
            <a:r>
              <a:rPr lang="en-IN" sz="1800" dirty="0"/>
              <a:t>Displays the total revenue generated from hospital services.</a:t>
            </a:r>
          </a:p>
          <a:p>
            <a:pPr marL="36900" indent="0">
              <a:buNone/>
            </a:pPr>
            <a:r>
              <a:rPr lang="en-IN" sz="2400" b="1" dirty="0"/>
              <a:t>Monthly Admission Trend</a:t>
            </a:r>
          </a:p>
          <a:p>
            <a:pPr marL="36900" indent="0">
              <a:buNone/>
            </a:pPr>
            <a:r>
              <a:rPr lang="en-IN" sz="1800" dirty="0"/>
              <a:t>Shows how admissions change over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8753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E482C-6026-4F36-5610-27E39CFB1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Patient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0A3C8-4C6D-4132-3654-F9B6EAFEE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>
              <a:buNone/>
            </a:pPr>
            <a:r>
              <a:rPr lang="en-IN" sz="2400" b="1" dirty="0"/>
              <a:t>Patients by Age Group</a:t>
            </a:r>
          </a:p>
          <a:p>
            <a:pPr marL="36900" indent="0">
              <a:buNone/>
            </a:pPr>
            <a:r>
              <a:rPr lang="en-IN" sz="1800" dirty="0"/>
              <a:t>Identifies which age groups use hospital services most frequently.</a:t>
            </a:r>
          </a:p>
          <a:p>
            <a:pPr marL="36900" indent="0">
              <a:buNone/>
            </a:pPr>
            <a:r>
              <a:rPr lang="en-IN" sz="2400" b="1" dirty="0"/>
              <a:t>Gender Distribution</a:t>
            </a:r>
          </a:p>
          <a:p>
            <a:pPr marL="36900" indent="0">
              <a:buNone/>
            </a:pPr>
            <a:r>
              <a:rPr lang="en-IN" sz="1800" dirty="0"/>
              <a:t>Compares male and female patient admissions.</a:t>
            </a:r>
          </a:p>
          <a:p>
            <a:pPr marL="36900" indent="0">
              <a:buNone/>
            </a:pPr>
            <a:r>
              <a:rPr lang="en-IN" sz="2400" b="1" dirty="0"/>
              <a:t>Admission Type</a:t>
            </a:r>
          </a:p>
          <a:p>
            <a:pPr marL="36900" indent="0">
              <a:buNone/>
            </a:pPr>
            <a:r>
              <a:rPr lang="en-IN" sz="1800" dirty="0" err="1"/>
              <a:t>Analyzes</a:t>
            </a:r>
            <a:r>
              <a:rPr lang="en-IN" sz="1800" dirty="0"/>
              <a:t> Emergency, Elective, Transfer, and Maternity admissions.</a:t>
            </a:r>
          </a:p>
          <a:p>
            <a:pPr marL="36900" indent="0">
              <a:buNone/>
            </a:pPr>
            <a:r>
              <a:rPr lang="en-IN" sz="2400" b="1" dirty="0"/>
              <a:t>Insurance Type</a:t>
            </a:r>
          </a:p>
          <a:p>
            <a:pPr marL="36900" indent="0">
              <a:buNone/>
            </a:pPr>
            <a:r>
              <a:rPr lang="en-IN" sz="1800" dirty="0"/>
              <a:t>Shows patient distribution based on insurance coverage.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9530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297D1-BFD5-6C03-3FB8-364AEEF06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8C051-664B-7753-5133-5F5DEAEBC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>
              <a:buNone/>
            </a:pPr>
            <a:r>
              <a:rPr lang="en-IN" dirty="0"/>
              <a:t>Majority of patients were successfully </a:t>
            </a:r>
            <a:r>
              <a:rPr lang="en-IN" dirty="0" err="1"/>
              <a:t>recovered.Bed</a:t>
            </a:r>
            <a:r>
              <a:rPr lang="en-IN" dirty="0"/>
              <a:t> occupancy remained consistently high across </a:t>
            </a:r>
            <a:r>
              <a:rPr lang="en-IN" dirty="0" err="1"/>
              <a:t>departments.Adults</a:t>
            </a:r>
            <a:r>
              <a:rPr lang="en-IN" dirty="0"/>
              <a:t> represented the largest patient </a:t>
            </a:r>
            <a:r>
              <a:rPr lang="en-IN" dirty="0" err="1"/>
              <a:t>group.Revenue</a:t>
            </a:r>
            <a:r>
              <a:rPr lang="en-IN" dirty="0"/>
              <a:t> varied significantly by </a:t>
            </a:r>
            <a:r>
              <a:rPr lang="en-IN" dirty="0" err="1"/>
              <a:t>department.Emergency</a:t>
            </a:r>
            <a:r>
              <a:rPr lang="en-IN" dirty="0"/>
              <a:t> admissions formed a major share of hospital admissions.</a:t>
            </a:r>
          </a:p>
        </p:txBody>
      </p:sp>
    </p:spTree>
    <p:extLst>
      <p:ext uri="{BB962C8B-B14F-4D97-AF65-F5344CB8AC3E}">
        <p14:creationId xmlns:p14="http://schemas.microsoft.com/office/powerpoint/2010/main" val="1403565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870C3-9189-A7ED-6B17-D16280D04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Business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B613E-FA13-145B-D5EA-79E638D8B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IN" dirty="0"/>
              <a:t>Supports hospital decision-</a:t>
            </a:r>
            <a:r>
              <a:rPr lang="en-IN" dirty="0" err="1"/>
              <a:t>making.Improves</a:t>
            </a:r>
            <a:r>
              <a:rPr lang="en-IN" dirty="0"/>
              <a:t> resource </a:t>
            </a:r>
            <a:r>
              <a:rPr lang="en-IN" dirty="0" err="1"/>
              <a:t>allocation.Tracks</a:t>
            </a:r>
            <a:r>
              <a:rPr lang="en-IN" dirty="0"/>
              <a:t> patient </a:t>
            </a:r>
            <a:r>
              <a:rPr lang="en-IN" dirty="0" err="1"/>
              <a:t>demographics.Monitors</a:t>
            </a:r>
            <a:r>
              <a:rPr lang="en-IN" dirty="0"/>
              <a:t> department </a:t>
            </a:r>
            <a:r>
              <a:rPr lang="en-IN" dirty="0" err="1"/>
              <a:t>performance.Enables</a:t>
            </a:r>
            <a:r>
              <a:rPr lang="en-IN" dirty="0"/>
              <a:t> interactive filtering with slicers.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780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3AD52-87B5-95FD-0A21-8CCF886DB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194A8-5DB1-0E50-791A-3E5BC752E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>
              <a:buNone/>
            </a:pPr>
            <a:r>
              <a:rPr lang="en-IN" dirty="0"/>
              <a:t>This Power BI dashboard provides a centralized view of hospital operations by combining admissions, revenue, patient demographics, department performance, and bed occupancy into a single interactive report. It helps hospital administrators make faster, data-driven decisions and improve operational efficiency.</a:t>
            </a:r>
          </a:p>
        </p:txBody>
      </p:sp>
    </p:spTree>
    <p:extLst>
      <p:ext uri="{BB962C8B-B14F-4D97-AF65-F5344CB8AC3E}">
        <p14:creationId xmlns:p14="http://schemas.microsoft.com/office/powerpoint/2010/main" val="17308712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42</TotalTime>
  <Words>401</Words>
  <Application>Microsoft Office PowerPoint</Application>
  <PresentationFormat>Widescreen</PresentationFormat>
  <Paragraphs>72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Calisto MT</vt:lpstr>
      <vt:lpstr>Wingdings 2</vt:lpstr>
      <vt:lpstr>Slate</vt:lpstr>
      <vt:lpstr>Healthcare Operations Dashboard using Power BI</vt:lpstr>
      <vt:lpstr>Project Objective</vt:lpstr>
      <vt:lpstr>Tools &amp; Dataset</vt:lpstr>
      <vt:lpstr>Data Model</vt:lpstr>
      <vt:lpstr>DAX Measures</vt:lpstr>
      <vt:lpstr>Dashboard Overview</vt:lpstr>
      <vt:lpstr>Dashboard Insights</vt:lpstr>
      <vt:lpstr>Patient Analytics</vt:lpstr>
      <vt:lpstr>Key Business Insights</vt:lpstr>
      <vt:lpstr>Business Benefits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 KUNTALA</dc:creator>
  <cp:lastModifiedBy>PAVAN KUNTALA</cp:lastModifiedBy>
  <cp:revision>1</cp:revision>
  <dcterms:created xsi:type="dcterms:W3CDTF">2026-06-29T06:12:25Z</dcterms:created>
  <dcterms:modified xsi:type="dcterms:W3CDTF">2026-06-29T06:56:34Z</dcterms:modified>
</cp:coreProperties>
</file>